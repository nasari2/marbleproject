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7401" y="837597"/>
            <a:ext cx="3030854" cy="427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 /><Relationship Id="rId13" Type="http://schemas.openxmlformats.org/officeDocument/2006/relationships/image" Target="../media/image17.png" /><Relationship Id="rId18" Type="http://schemas.openxmlformats.org/officeDocument/2006/relationships/image" Target="../media/image22.png" /><Relationship Id="rId3" Type="http://schemas.openxmlformats.org/officeDocument/2006/relationships/image" Target="../media/image7.png" /><Relationship Id="rId21" Type="http://schemas.openxmlformats.org/officeDocument/2006/relationships/image" Target="../media/image25.png" /><Relationship Id="rId7" Type="http://schemas.openxmlformats.org/officeDocument/2006/relationships/image" Target="../media/image11.png" /><Relationship Id="rId12" Type="http://schemas.openxmlformats.org/officeDocument/2006/relationships/image" Target="../media/image16.png" /><Relationship Id="rId17" Type="http://schemas.openxmlformats.org/officeDocument/2006/relationships/image" Target="../media/image21.png" /><Relationship Id="rId2" Type="http://schemas.openxmlformats.org/officeDocument/2006/relationships/image" Target="../media/image6.png" /><Relationship Id="rId16" Type="http://schemas.openxmlformats.org/officeDocument/2006/relationships/image" Target="../media/image20.png" /><Relationship Id="rId20" Type="http://schemas.openxmlformats.org/officeDocument/2006/relationships/image" Target="../media/image24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0.png" /><Relationship Id="rId11" Type="http://schemas.openxmlformats.org/officeDocument/2006/relationships/image" Target="../media/image15.png" /><Relationship Id="rId24" Type="http://schemas.openxmlformats.org/officeDocument/2006/relationships/image" Target="../media/image28.png" /><Relationship Id="rId5" Type="http://schemas.openxmlformats.org/officeDocument/2006/relationships/image" Target="../media/image9.png" /><Relationship Id="rId15" Type="http://schemas.openxmlformats.org/officeDocument/2006/relationships/image" Target="../media/image19.png" /><Relationship Id="rId23" Type="http://schemas.openxmlformats.org/officeDocument/2006/relationships/image" Target="../media/image27.png" /><Relationship Id="rId10" Type="http://schemas.openxmlformats.org/officeDocument/2006/relationships/image" Target="../media/image14.png" /><Relationship Id="rId19" Type="http://schemas.openxmlformats.org/officeDocument/2006/relationships/image" Target="../media/image23.png" /><Relationship Id="rId4" Type="http://schemas.openxmlformats.org/officeDocument/2006/relationships/image" Target="../media/image8.png" /><Relationship Id="rId9" Type="http://schemas.openxmlformats.org/officeDocument/2006/relationships/image" Target="../media/image13.png" /><Relationship Id="rId14" Type="http://schemas.openxmlformats.org/officeDocument/2006/relationships/image" Target="../media/image18.png" /><Relationship Id="rId22" Type="http://schemas.openxmlformats.org/officeDocument/2006/relationships/image" Target="../media/image26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 /><Relationship Id="rId13" Type="http://schemas.openxmlformats.org/officeDocument/2006/relationships/image" Target="../media/image40.png" /><Relationship Id="rId3" Type="http://schemas.openxmlformats.org/officeDocument/2006/relationships/image" Target="../media/image30.png" /><Relationship Id="rId7" Type="http://schemas.openxmlformats.org/officeDocument/2006/relationships/image" Target="../media/image34.png" /><Relationship Id="rId12" Type="http://schemas.openxmlformats.org/officeDocument/2006/relationships/image" Target="../media/image39.png" /><Relationship Id="rId17" Type="http://schemas.openxmlformats.org/officeDocument/2006/relationships/image" Target="../media/image44.png" /><Relationship Id="rId2" Type="http://schemas.openxmlformats.org/officeDocument/2006/relationships/image" Target="../media/image29.png" /><Relationship Id="rId16" Type="http://schemas.openxmlformats.org/officeDocument/2006/relationships/image" Target="../media/image43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33.png" /><Relationship Id="rId11" Type="http://schemas.openxmlformats.org/officeDocument/2006/relationships/image" Target="../media/image38.png" /><Relationship Id="rId5" Type="http://schemas.openxmlformats.org/officeDocument/2006/relationships/image" Target="../media/image32.png" /><Relationship Id="rId15" Type="http://schemas.openxmlformats.org/officeDocument/2006/relationships/image" Target="../media/image42.png" /><Relationship Id="rId10" Type="http://schemas.openxmlformats.org/officeDocument/2006/relationships/image" Target="../media/image37.png" /><Relationship Id="rId4" Type="http://schemas.openxmlformats.org/officeDocument/2006/relationships/image" Target="../media/image31.png" /><Relationship Id="rId9" Type="http://schemas.openxmlformats.org/officeDocument/2006/relationships/image" Target="../media/image36.png" /><Relationship Id="rId14" Type="http://schemas.openxmlformats.org/officeDocument/2006/relationships/image" Target="../media/image41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 /><Relationship Id="rId3" Type="http://schemas.openxmlformats.org/officeDocument/2006/relationships/image" Target="../media/image46.png" /><Relationship Id="rId7" Type="http://schemas.openxmlformats.org/officeDocument/2006/relationships/image" Target="../media/image50.png" /><Relationship Id="rId2" Type="http://schemas.openxmlformats.org/officeDocument/2006/relationships/image" Target="../media/image45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49.png" /><Relationship Id="rId5" Type="http://schemas.openxmlformats.org/officeDocument/2006/relationships/image" Target="../media/image48.png" /><Relationship Id="rId4" Type="http://schemas.openxmlformats.org/officeDocument/2006/relationships/image" Target="../media/image47.png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AD037B-2804-9F03-30E1-1F77D990A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555854"/>
              </p:ext>
            </p:extLst>
          </p:nvPr>
        </p:nvGraphicFramePr>
        <p:xfrm>
          <a:off x="957255" y="6583881"/>
          <a:ext cx="518160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2775829819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254828434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604225364"/>
                    </a:ext>
                  </a:extLst>
                </a:gridCol>
              </a:tblGrid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052751"/>
                  </a:ext>
                </a:extLst>
              </a:tr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663110"/>
                  </a:ext>
                </a:extLst>
              </a:tr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457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5A66115-047A-43CB-3245-7F69F23EC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935976"/>
              </p:ext>
            </p:extLst>
          </p:nvPr>
        </p:nvGraphicFramePr>
        <p:xfrm>
          <a:off x="1109655" y="6736281"/>
          <a:ext cx="518160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2775829819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254828434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604225364"/>
                    </a:ext>
                  </a:extLst>
                </a:gridCol>
              </a:tblGrid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052751"/>
                  </a:ext>
                </a:extLst>
              </a:tr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663110"/>
                  </a:ext>
                </a:extLst>
              </a:tr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457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D293C83-0F46-D5A6-7028-194BD9991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169997"/>
              </p:ext>
            </p:extLst>
          </p:nvPr>
        </p:nvGraphicFramePr>
        <p:xfrm>
          <a:off x="1262055" y="6888681"/>
          <a:ext cx="518160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2775829819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254828434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604225364"/>
                    </a:ext>
                  </a:extLst>
                </a:gridCol>
              </a:tblGrid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052751"/>
                  </a:ext>
                </a:extLst>
              </a:tr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663110"/>
                  </a:ext>
                </a:extLst>
              </a:tr>
              <a:tr h="1366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457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D68876D-602F-152A-C812-E89B8C1ECB19}"/>
              </a:ext>
            </a:extLst>
          </p:cNvPr>
          <p:cNvSpPr txBox="1"/>
          <p:nvPr/>
        </p:nvSpPr>
        <p:spPr>
          <a:xfrm>
            <a:off x="1109655" y="3877901"/>
            <a:ext cx="5988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3200" dirty="0"/>
              <a:t>ONLINE MARBLE SHOPPING 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21517-3994-73F6-86D6-462C2E1D7CA5}"/>
              </a:ext>
            </a:extLst>
          </p:cNvPr>
          <p:cNvSpPr txBox="1"/>
          <p:nvPr/>
        </p:nvSpPr>
        <p:spPr>
          <a:xfrm>
            <a:off x="5585382" y="5671930"/>
            <a:ext cx="2459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NASARI K</a:t>
            </a:r>
          </a:p>
          <a:p>
            <a:pPr algn="l"/>
            <a:r>
              <a:rPr lang="en-IN" dirty="0"/>
              <a:t>ROLL NO:35</a:t>
            </a:r>
          </a:p>
          <a:p>
            <a:pPr algn="l"/>
            <a:r>
              <a:rPr lang="en-IN" dirty="0"/>
              <a:t>MCA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615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85" dirty="0"/>
              <a:t>DATA</a:t>
            </a:r>
            <a:r>
              <a:rPr spc="-50" dirty="0"/>
              <a:t> </a:t>
            </a:r>
            <a:r>
              <a:rPr dirty="0"/>
              <a:t>FLOW</a:t>
            </a:r>
            <a:r>
              <a:rPr spc="-50" dirty="0"/>
              <a:t> </a:t>
            </a:r>
            <a:r>
              <a:rPr spc="-10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7401" y="2448286"/>
            <a:ext cx="84518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Calibri"/>
                <a:cs typeface="Calibri"/>
              </a:rPr>
              <a:t>LEVEL </a:t>
            </a:r>
            <a:r>
              <a:rPr sz="2050" spc="-50" dirty="0">
                <a:latin typeface="Calibri"/>
                <a:cs typeface="Calibri"/>
              </a:rPr>
              <a:t>0</a:t>
            </a:r>
            <a:endParaRPr sz="20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8019" y="3370155"/>
            <a:ext cx="5384800" cy="2192655"/>
            <a:chOff x="878019" y="3370155"/>
            <a:chExt cx="5384800" cy="21926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8019" y="4944046"/>
              <a:ext cx="1173679" cy="6181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8019" y="3370155"/>
              <a:ext cx="5384591" cy="136930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5861" y="4596111"/>
              <a:ext cx="967613" cy="3942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6902" y="4658826"/>
              <a:ext cx="1075126" cy="45692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01952" y="4166060"/>
              <a:ext cx="806344" cy="537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1" y="839696"/>
            <a:ext cx="104457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Calibri"/>
                <a:cs typeface="Calibri"/>
              </a:rPr>
              <a:t>LEVEL </a:t>
            </a:r>
            <a:r>
              <a:rPr sz="2050" spc="-25" dirty="0">
                <a:latin typeface="Calibri"/>
                <a:cs typeface="Calibri"/>
              </a:rPr>
              <a:t>1</a:t>
            </a:r>
            <a:endParaRPr sz="205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4338" y="937473"/>
            <a:ext cx="8148560" cy="8551312"/>
            <a:chOff x="671953" y="1445223"/>
            <a:chExt cx="8148560" cy="855131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1953" y="1445223"/>
              <a:ext cx="3538957" cy="9228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7484" y="1552735"/>
              <a:ext cx="1263273" cy="60027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13332" y="1507938"/>
              <a:ext cx="783948" cy="82963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5227" y="2003470"/>
              <a:ext cx="994491" cy="7705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92992" y="1788445"/>
              <a:ext cx="994491" cy="537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38678" y="2400449"/>
              <a:ext cx="1370786" cy="83322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44186" y="2248139"/>
              <a:ext cx="1218476" cy="11736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9973" y="2364611"/>
              <a:ext cx="1639567" cy="203378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81192" y="2364611"/>
              <a:ext cx="1962105" cy="30372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6166" y="2364611"/>
              <a:ext cx="2212968" cy="406756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8654" y="2364611"/>
              <a:ext cx="2266724" cy="507997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13331" y="2172376"/>
              <a:ext cx="2436954" cy="598486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13332" y="2060700"/>
              <a:ext cx="2607181" cy="793583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00505" y="2373570"/>
              <a:ext cx="2221927" cy="6271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10353" y="3292959"/>
              <a:ext cx="3386647" cy="8690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83475" y="4301941"/>
              <a:ext cx="3395607" cy="84218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53704" y="7225467"/>
              <a:ext cx="1281192" cy="8690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046191" y="5263362"/>
              <a:ext cx="3476241" cy="8690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090988" y="6266813"/>
              <a:ext cx="3413526" cy="86906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126825" y="9115899"/>
              <a:ext cx="3323932" cy="79738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189541" y="8157245"/>
              <a:ext cx="3314972" cy="8690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16750" y="7055239"/>
              <a:ext cx="869060" cy="8690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443855" y="7055239"/>
              <a:ext cx="895938" cy="582359"/>
            </a:xfrm>
            <a:prstGeom prst="rect">
              <a:avLst/>
            </a:prstGeom>
          </p:spPr>
        </p:pic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CC6F8298-AE80-6DD2-C25A-41A99AF2BF1C}"/>
              </a:ext>
            </a:extLst>
          </p:cNvPr>
          <p:cNvSpPr/>
          <p:nvPr/>
        </p:nvSpPr>
        <p:spPr>
          <a:xfrm>
            <a:off x="6276758" y="1044985"/>
            <a:ext cx="1721388" cy="90134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35C494-FDF9-1E18-B21C-D8845CFA6172}"/>
              </a:ext>
            </a:extLst>
          </p:cNvPr>
          <p:cNvSpPr/>
          <p:nvPr/>
        </p:nvSpPr>
        <p:spPr>
          <a:xfrm>
            <a:off x="6169346" y="4156756"/>
            <a:ext cx="1828800" cy="1828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AED1D0-A405-78DB-CD6E-B952AB844EE3}"/>
              </a:ext>
            </a:extLst>
          </p:cNvPr>
          <p:cNvSpPr/>
          <p:nvPr/>
        </p:nvSpPr>
        <p:spPr>
          <a:xfrm flipV="1">
            <a:off x="6207460" y="1933354"/>
            <a:ext cx="1721014" cy="2789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17C989C-45B9-10E5-56AC-4DA5A8925B90}"/>
              </a:ext>
            </a:extLst>
          </p:cNvPr>
          <p:cNvCxnSpPr>
            <a:cxnSpLocks/>
          </p:cNvCxnSpPr>
          <p:nvPr/>
        </p:nvCxnSpPr>
        <p:spPr>
          <a:xfrm>
            <a:off x="968323" y="1833411"/>
            <a:ext cx="2356318" cy="6012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CA996B7-771C-336A-183D-34EFDA06AD8A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798095" y="1892699"/>
            <a:ext cx="2401115" cy="7114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1" y="839696"/>
            <a:ext cx="104457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Calibri"/>
                <a:cs typeface="Calibri"/>
              </a:rPr>
              <a:t>LEVEL </a:t>
            </a:r>
            <a:r>
              <a:rPr sz="2050" spc="-25" dirty="0">
                <a:latin typeface="Calibri"/>
                <a:cs typeface="Calibri"/>
              </a:rPr>
              <a:t>1</a:t>
            </a:r>
            <a:r>
              <a:rPr lang="en-IN" sz="2050" spc="-25" dirty="0">
                <a:latin typeface="Calibri"/>
                <a:cs typeface="Calibri"/>
              </a:rPr>
              <a:t>.1</a:t>
            </a:r>
            <a:endParaRPr sz="205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40735" y="1743648"/>
            <a:ext cx="5984875" cy="6278245"/>
            <a:chOff x="940735" y="1743648"/>
            <a:chExt cx="5984875" cy="62782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0735" y="1779486"/>
              <a:ext cx="5303956" cy="9048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6545" y="1743648"/>
              <a:ext cx="869060" cy="55816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1699" y="2248139"/>
              <a:ext cx="904897" cy="7884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0430" y="2481083"/>
              <a:ext cx="1227435" cy="133494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42461" y="2499002"/>
              <a:ext cx="1675405" cy="22398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9517" y="2499002"/>
              <a:ext cx="1890430" cy="311786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5126" y="2481083"/>
              <a:ext cx="2069618" cy="40138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7613" y="2499002"/>
              <a:ext cx="2221927" cy="49187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47638" y="2734712"/>
              <a:ext cx="3306013" cy="8780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30277" y="3472147"/>
              <a:ext cx="1173679" cy="56444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65556" y="3716816"/>
              <a:ext cx="1164720" cy="83322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01394" y="4609328"/>
              <a:ext cx="3323932" cy="81530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83475" y="5483918"/>
              <a:ext cx="3368729" cy="76154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55150" y="6313715"/>
              <a:ext cx="3288094" cy="79738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91546" y="6898839"/>
              <a:ext cx="1084085" cy="66299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53704" y="7197264"/>
              <a:ext cx="1155760" cy="824263"/>
            </a:xfrm>
            <a:prstGeom prst="rect">
              <a:avLst/>
            </a:prstGeom>
          </p:spPr>
        </p:pic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1EFA294-7653-11DF-8809-97BDFD55808A}"/>
              </a:ext>
            </a:extLst>
          </p:cNvPr>
          <p:cNvSpPr/>
          <p:nvPr/>
        </p:nvSpPr>
        <p:spPr>
          <a:xfrm>
            <a:off x="6110300" y="1743648"/>
            <a:ext cx="1729703" cy="54536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1" y="1723249"/>
            <a:ext cx="104457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Calibri"/>
                <a:cs typeface="Calibri"/>
              </a:rPr>
              <a:t>LEVEL </a:t>
            </a:r>
            <a:r>
              <a:rPr sz="2050" spc="-25" dirty="0">
                <a:latin typeface="Calibri"/>
                <a:cs typeface="Calibri"/>
              </a:rPr>
              <a:t>1</a:t>
            </a:r>
            <a:r>
              <a:rPr lang="en-IN" sz="2050" spc="-25" dirty="0">
                <a:latin typeface="Calibri"/>
                <a:cs typeface="Calibri"/>
              </a:rPr>
              <a:t>.2</a:t>
            </a:r>
            <a:endParaRPr sz="20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7401" y="5524727"/>
            <a:ext cx="2341245" cy="1289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60" dirty="0">
                <a:latin typeface="Calibri"/>
                <a:cs typeface="Calibri"/>
              </a:rPr>
              <a:t>DATABASE </a:t>
            </a:r>
            <a:r>
              <a:rPr sz="2450" spc="-10" dirty="0">
                <a:latin typeface="Calibri"/>
                <a:cs typeface="Calibri"/>
              </a:rPr>
              <a:t>DESIGN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5"/>
              </a:spcBef>
            </a:pPr>
            <a:endParaRPr sz="24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50" spc="-10" dirty="0">
                <a:latin typeface="Calibri"/>
                <a:cs typeface="Calibri"/>
              </a:rPr>
              <a:t>LOGIN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54660"/>
              </p:ext>
            </p:extLst>
          </p:nvPr>
        </p:nvGraphicFramePr>
        <p:xfrm>
          <a:off x="860102" y="7445512"/>
          <a:ext cx="5009561" cy="1351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9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9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9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63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97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LOGIN_ID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lang="en-IN" sz="1700" spc="-25" dirty="0">
                          <a:latin typeface="Calibri"/>
                          <a:cs typeface="Calibri"/>
                        </a:rPr>
                        <a:t>VARCHAR(10)</a:t>
                      </a:r>
                      <a:endParaRPr lang="en-IN"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468">
                <a:tc>
                  <a:txBody>
                    <a:bodyPr/>
                    <a:lstStyle/>
                    <a:p>
                      <a:pPr marL="56515">
                        <a:lnSpc>
                          <a:spcPts val="2020"/>
                        </a:lnSpc>
                        <a:spcBef>
                          <a:spcPts val="4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7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NAME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0"/>
                        </a:lnSpc>
                        <a:spcBef>
                          <a:spcPts val="4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</a:t>
                      </a:r>
                      <a:r>
                        <a:rPr lang="en-IN" sz="1700" spc="-1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5)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0"/>
                        </a:lnSpc>
                        <a:spcBef>
                          <a:spcPts val="4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468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PASSWORD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</a:t>
                      </a:r>
                      <a:r>
                        <a:rPr lang="en-IN" sz="1700" spc="-10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468">
                <a:tc>
                  <a:txBody>
                    <a:bodyPr/>
                    <a:lstStyle/>
                    <a:p>
                      <a:pPr marL="56515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00" dirty="0">
                          <a:latin typeface="Calibri"/>
                          <a:cs typeface="Calibri"/>
                        </a:rPr>
                        <a:t>TYPE </a:t>
                      </a: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en-IN" sz="1700" dirty="0">
                          <a:latin typeface="Calibri"/>
                          <a:cs typeface="Calibri"/>
                        </a:rPr>
                        <a:t>VARCHAR (15)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en-IN" sz="1700" dirty="0">
                          <a:latin typeface="Calibri"/>
                          <a:cs typeface="Calibri"/>
                        </a:rPr>
                        <a:t>NOT NULL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066258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1030329" y="2507961"/>
            <a:ext cx="6101715" cy="2266315"/>
            <a:chOff x="1030329" y="2507961"/>
            <a:chExt cx="6101715" cy="22663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1469" y="2606514"/>
              <a:ext cx="1191598" cy="6898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5961" y="2507961"/>
              <a:ext cx="725710" cy="8690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0329" y="2606514"/>
              <a:ext cx="3601673" cy="9407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4643" y="3284001"/>
              <a:ext cx="1146801" cy="8063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4083" y="3095854"/>
              <a:ext cx="806344" cy="5375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67840" y="3454229"/>
              <a:ext cx="922816" cy="7884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68729" y="3833288"/>
              <a:ext cx="1317029" cy="940735"/>
            </a:xfrm>
            <a:prstGeom prst="rect">
              <a:avLst/>
            </a:prstGeom>
          </p:spPr>
        </p:pic>
      </p:grp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C219DD7-0B4D-3CB6-F704-74DDCACBE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980098"/>
              </p:ext>
            </p:extLst>
          </p:nvPr>
        </p:nvGraphicFramePr>
        <p:xfrm>
          <a:off x="1295400" y="3302000"/>
          <a:ext cx="5181600" cy="2499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1673537709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660062461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184304026"/>
                    </a:ext>
                  </a:extLst>
                </a:gridCol>
              </a:tblGrid>
              <a:tr h="624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526742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767845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869812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4258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5612" y="1281471"/>
            <a:ext cx="1534160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dirty="0">
                <a:latin typeface="Calibri"/>
                <a:cs typeface="Calibri"/>
              </a:rPr>
              <a:t>DELIVERY</a:t>
            </a:r>
            <a:r>
              <a:rPr sz="2050" spc="-40" dirty="0">
                <a:latin typeface="Calibri"/>
                <a:cs typeface="Calibri"/>
              </a:rPr>
              <a:t> </a:t>
            </a:r>
            <a:r>
              <a:rPr sz="2050" spc="-25" dirty="0">
                <a:latin typeface="Calibri"/>
                <a:cs typeface="Calibri"/>
              </a:rPr>
              <a:t>BOY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230763"/>
              </p:ext>
            </p:extLst>
          </p:nvPr>
        </p:nvGraphicFramePr>
        <p:xfrm>
          <a:off x="860101" y="2174142"/>
          <a:ext cx="5375909" cy="169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en-IN" sz="1700" dirty="0">
                          <a:latin typeface="Calibri"/>
                          <a:cs typeface="Calibri"/>
                        </a:rPr>
                        <a:t>VARCHAR (10)</a:t>
                      </a: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lang="en-IN" sz="1700" spc="-10" dirty="0">
                          <a:latin typeface="Calibri"/>
                          <a:cs typeface="Calibri"/>
                        </a:rPr>
                        <a:t>D_PLACE</a:t>
                      </a:r>
                      <a:endParaRPr lang="en-IN" sz="1700" dirty="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</a:t>
                      </a:r>
                      <a:r>
                        <a:rPr lang="en-IN" sz="1700" spc="-1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D_PHONE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D_EMAIL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</a:t>
                      </a:r>
                      <a:r>
                        <a:rPr lang="en-IN" sz="1700" spc="-1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D_PROOF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</a:t>
                      </a:r>
                      <a:r>
                        <a:rPr lang="en-IN" sz="1700" spc="-1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47401" y="5287390"/>
            <a:ext cx="58610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20" dirty="0">
                <a:latin typeface="Calibri"/>
                <a:cs typeface="Calibri"/>
              </a:rPr>
              <a:t>USER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119145"/>
              </p:ext>
            </p:extLst>
          </p:nvPr>
        </p:nvGraphicFramePr>
        <p:xfrm>
          <a:off x="860101" y="6187944"/>
          <a:ext cx="5375909" cy="1669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945">
                <a:tc>
                  <a:txBody>
                    <a:bodyPr/>
                    <a:lstStyle/>
                    <a:p>
                      <a:pPr marL="56515">
                        <a:lnSpc>
                          <a:spcPts val="2430"/>
                        </a:lnSpc>
                        <a:spcBef>
                          <a:spcPts val="10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430"/>
                        </a:lnSpc>
                        <a:spcBef>
                          <a:spcPts val="10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430"/>
                        </a:lnSpc>
                        <a:spcBef>
                          <a:spcPts val="10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U_ID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lang="en-IN" sz="1700" dirty="0">
                          <a:latin typeface="Calibri"/>
                          <a:cs typeface="Calibri"/>
                        </a:rPr>
                        <a:t>VARCHAR (15)</a:t>
                      </a: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lang="en-IN" sz="1700" spc="-10" dirty="0">
                          <a:latin typeface="Calibri"/>
                          <a:cs typeface="Calibri"/>
                        </a:rPr>
                        <a:t>D_PLACE</a:t>
                      </a:r>
                      <a:endParaRPr lang="en-IN"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</a:t>
                      </a:r>
                      <a:r>
                        <a:rPr lang="en-IN" sz="1700" spc="-1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4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U_PHONE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40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4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U_EMAIL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</a:t>
                      </a:r>
                      <a:r>
                        <a:rPr lang="en-IN" sz="1700" spc="-1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U_PROOF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</a:t>
                      </a:r>
                      <a:r>
                        <a:rPr lang="en-IN" sz="1700" spc="-1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1" y="839696"/>
            <a:ext cx="911860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Calibri"/>
                <a:cs typeface="Calibri"/>
              </a:rPr>
              <a:t>VEHICLE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064181"/>
              </p:ext>
            </p:extLst>
          </p:nvPr>
        </p:nvGraphicFramePr>
        <p:xfrm>
          <a:off x="860101" y="1732141"/>
          <a:ext cx="5375909" cy="1419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V_ID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lang="en-IN" sz="1700" dirty="0">
                          <a:latin typeface="Calibri"/>
                          <a:cs typeface="Calibri"/>
                        </a:rPr>
                        <a:t>VARCHAR (20)</a:t>
                      </a:r>
                    </a:p>
                  </a:txBody>
                  <a:tcPr marL="0" marR="0" marT="254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V_NAME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</a:t>
                      </a:r>
                      <a:r>
                        <a:rPr lang="en-IN" sz="1700" spc="-1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V_NUMBER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</a:t>
                      </a:r>
                      <a:r>
                        <a:rPr lang="en-IN" sz="1700" spc="-1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V_MODEL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</a:t>
                      </a:r>
                      <a:r>
                        <a:rPr lang="en-IN" sz="1700" spc="-1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47401" y="4031291"/>
            <a:ext cx="107505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Calibri"/>
                <a:cs typeface="Calibri"/>
              </a:rPr>
              <a:t>PRODUCT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429483"/>
              </p:ext>
            </p:extLst>
          </p:nvPr>
        </p:nvGraphicFramePr>
        <p:xfrm>
          <a:off x="860101" y="4933631"/>
          <a:ext cx="5375909" cy="1407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945">
                <a:tc>
                  <a:txBody>
                    <a:bodyPr/>
                    <a:lstStyle/>
                    <a:p>
                      <a:pPr marL="56515">
                        <a:lnSpc>
                          <a:spcPts val="2440"/>
                        </a:lnSpc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440"/>
                        </a:lnSpc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440"/>
                        </a:lnSpc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P_ID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lang="en-IN" sz="1700" dirty="0">
                          <a:latin typeface="Calibri"/>
                          <a:cs typeface="Calibri"/>
                        </a:rPr>
                        <a:t>VARCHAR (20)</a:t>
                      </a: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P_NAME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</a:t>
                      </a:r>
                      <a:r>
                        <a:rPr lang="en-IN" sz="1700" spc="-1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P_PRICE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</a:t>
                      </a:r>
                      <a:r>
                        <a:rPr lang="en-IN" sz="1700" spc="-1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10"/>
                        </a:lnSpc>
                        <a:spcBef>
                          <a:spcPts val="5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P_IMAGE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0"/>
                        </a:lnSpc>
                        <a:spcBef>
                          <a:spcPts val="5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</a:t>
                      </a:r>
                      <a:r>
                        <a:rPr lang="en-IN" sz="1700" spc="-1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0"/>
                        </a:lnSpc>
                        <a:spcBef>
                          <a:spcPts val="5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776A061-CDDA-97EB-B8BB-2E39E81EADB4}"/>
              </a:ext>
            </a:extLst>
          </p:cNvPr>
          <p:cNvSpPr txBox="1"/>
          <p:nvPr/>
        </p:nvSpPr>
        <p:spPr>
          <a:xfrm>
            <a:off x="1942723" y="4843779"/>
            <a:ext cx="3885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1" y="1281471"/>
            <a:ext cx="77533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Calibri"/>
                <a:cs typeface="Calibri"/>
              </a:rPr>
              <a:t>ORDER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860012"/>
              </p:ext>
            </p:extLst>
          </p:nvPr>
        </p:nvGraphicFramePr>
        <p:xfrm>
          <a:off x="860101" y="2174142"/>
          <a:ext cx="5375909" cy="195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O_ID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lang="en-IN" sz="1700" dirty="0">
                          <a:latin typeface="Calibri"/>
                          <a:cs typeface="Calibri"/>
                        </a:rPr>
                        <a:t>VARCHAR (20)</a:t>
                      </a: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USER_ID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lang="en-IN" sz="1700" spc="-25" dirty="0">
                          <a:latin typeface="Calibri"/>
                          <a:cs typeface="Calibri"/>
                        </a:rPr>
                        <a:t>VARCHAR (20)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05"/>
                        </a:lnSpc>
                        <a:spcBef>
                          <a:spcPts val="6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P_ID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05"/>
                        </a:lnSpc>
                        <a:spcBef>
                          <a:spcPts val="60"/>
                        </a:spcBef>
                      </a:pPr>
                      <a:r>
                        <a:rPr lang="en-IN" sz="1700" spc="-25" dirty="0">
                          <a:latin typeface="Calibri"/>
                          <a:cs typeface="Calibri"/>
                        </a:rPr>
                        <a:t>VARCHAR (20)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05"/>
                        </a:lnSpc>
                        <a:spcBef>
                          <a:spcPts val="6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0"/>
                        </a:lnSpc>
                        <a:spcBef>
                          <a:spcPts val="3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QUALITY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</a:t>
                      </a:r>
                      <a:r>
                        <a:rPr lang="en-IN" sz="1700" spc="-1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47401" y="5015949"/>
            <a:ext cx="82105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Calibri"/>
                <a:cs typeface="Calibri"/>
              </a:rPr>
              <a:t>ASSIGN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237763"/>
              </p:ext>
            </p:extLst>
          </p:nvPr>
        </p:nvGraphicFramePr>
        <p:xfrm>
          <a:off x="860101" y="5913183"/>
          <a:ext cx="5375909" cy="195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 dirty="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A_ID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lang="en-IN" sz="1700" dirty="0">
                          <a:latin typeface="Calibri"/>
                          <a:cs typeface="Calibri"/>
                        </a:rPr>
                        <a:t>VARCHAR (20)</a:t>
                      </a: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O_ID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lang="en-IN" sz="1700" spc="-25" dirty="0">
                          <a:latin typeface="Calibri"/>
                          <a:cs typeface="Calibri"/>
                        </a:rPr>
                        <a:t>VARCHAR (20)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4"/>
                        </a:lnSpc>
                        <a:spcBef>
                          <a:spcPts val="5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  <a:spcBef>
                          <a:spcPts val="2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  <a:spcBef>
                          <a:spcPts val="25"/>
                        </a:spcBef>
                      </a:pPr>
                      <a:r>
                        <a:rPr lang="en-IN" sz="1700" spc="-25" dirty="0">
                          <a:latin typeface="Calibri"/>
                          <a:cs typeface="Calibri"/>
                        </a:rPr>
                        <a:t>VARCHAR (20)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  <a:spcBef>
                          <a:spcPts val="2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9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4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STATUS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4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</a:t>
                      </a:r>
                      <a:r>
                        <a:rPr lang="en-IN" sz="1700" spc="-1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4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401" y="839696"/>
            <a:ext cx="132397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10" dirty="0">
                <a:latin typeface="Calibri"/>
                <a:cs typeface="Calibri"/>
              </a:rPr>
              <a:t>COMPLAINT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896170"/>
              </p:ext>
            </p:extLst>
          </p:nvPr>
        </p:nvGraphicFramePr>
        <p:xfrm>
          <a:off x="860101" y="1732141"/>
          <a:ext cx="5375909" cy="195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C_ID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lang="en-IN" sz="1700" dirty="0">
                          <a:latin typeface="Calibri"/>
                          <a:cs typeface="Calibri"/>
                        </a:rPr>
                        <a:t>VARCHAR (20)</a:t>
                      </a:r>
                    </a:p>
                  </a:txBody>
                  <a:tcPr marL="0" marR="0" marT="254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U_ID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</a:pPr>
                      <a:r>
                        <a:rPr lang="en-IN" sz="1700" spc="-25" dirty="0">
                          <a:latin typeface="Calibri"/>
                          <a:cs typeface="Calibri"/>
                        </a:rPr>
                        <a:t>VARCHAR (20)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COMPLAINT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</a:t>
                      </a:r>
                      <a:r>
                        <a:rPr lang="en-IN" sz="1700" spc="-1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REPLY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VARCHAR(</a:t>
                      </a:r>
                      <a:r>
                        <a:rPr lang="en-IN" sz="1700" spc="-1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5"/>
                        </a:lnSpc>
                        <a:spcBef>
                          <a:spcPts val="3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47401" y="4574174"/>
            <a:ext cx="1053465" cy="3409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50" spc="-35" dirty="0">
                <a:latin typeface="Calibri"/>
                <a:cs typeface="Calibri"/>
              </a:rPr>
              <a:t>PAYMENT</a:t>
            </a:r>
            <a:endParaRPr sz="205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55100"/>
              </p:ext>
            </p:extLst>
          </p:nvPr>
        </p:nvGraphicFramePr>
        <p:xfrm>
          <a:off x="860101" y="5471188"/>
          <a:ext cx="5375909" cy="195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01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50" dirty="0">
                          <a:latin typeface="Calibri"/>
                          <a:cs typeface="Calibri"/>
                        </a:rPr>
                        <a:t>FIELD</a:t>
                      </a:r>
                      <a:r>
                        <a:rPr sz="20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NAME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50" spc="-85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50" spc="-20" dirty="0">
                          <a:latin typeface="Calibri"/>
                          <a:cs typeface="Calibri"/>
                        </a:rPr>
                        <a:t>TYPE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5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7E7E7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PAYMENT_ID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lang="en-IN" sz="1700" dirty="0">
                          <a:latin typeface="Calibri"/>
                          <a:cs typeface="Calibri"/>
                        </a:rPr>
                        <a:t>VARCHAR (20)</a:t>
                      </a: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10"/>
                        </a:lnSpc>
                        <a:spcBef>
                          <a:spcPts val="5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U_ID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0"/>
                        </a:lnSpc>
                        <a:spcBef>
                          <a:spcPts val="50"/>
                        </a:spcBef>
                      </a:pPr>
                      <a:r>
                        <a:rPr lang="en-IN" sz="1700" spc="-25" dirty="0">
                          <a:latin typeface="Calibri"/>
                          <a:cs typeface="Calibri"/>
                        </a:rPr>
                        <a:t>VARCHAR (20)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10"/>
                        </a:lnSpc>
                        <a:spcBef>
                          <a:spcPts val="5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  <a:spcBef>
                          <a:spcPts val="25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O_ID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  <a:spcBef>
                          <a:spcPts val="25"/>
                        </a:spcBef>
                      </a:pPr>
                      <a:r>
                        <a:rPr lang="en-IN" sz="1700" spc="-25" dirty="0">
                          <a:latin typeface="Calibri"/>
                          <a:cs typeface="Calibri"/>
                        </a:rPr>
                        <a:t>VARCHAR (20)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35"/>
                        </a:lnSpc>
                        <a:spcBef>
                          <a:spcPts val="2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KEY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175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AMOUNT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</a:pPr>
                      <a:r>
                        <a:rPr lang="en-IN" sz="1700" dirty="0">
                          <a:latin typeface="Calibri"/>
                          <a:cs typeface="Calibri"/>
                        </a:rPr>
                        <a:t>FLOAT</a:t>
                      </a: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DATE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197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6515">
                        <a:lnSpc>
                          <a:spcPts val="2020"/>
                        </a:lnSpc>
                        <a:spcBef>
                          <a:spcPts val="4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0"/>
                        </a:lnSpc>
                        <a:spcBef>
                          <a:spcPts val="40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TIME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020"/>
                        </a:lnSpc>
                        <a:spcBef>
                          <a:spcPts val="4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NULL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BEBEBE"/>
                      </a:solidFill>
                      <a:prstDash val="solid"/>
                    </a:lnL>
                    <a:lnR w="1270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BEBEBE"/>
                      </a:solidFill>
                      <a:prstDash val="solid"/>
                    </a:lnT>
                    <a:lnB w="12700">
                      <a:solidFill>
                        <a:srgbClr val="7E7E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DATA FLOW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DFD.pdf</dc:title>
  <cp:lastModifiedBy>nasarinasari143@gmail.com</cp:lastModifiedBy>
  <cp:revision>13</cp:revision>
  <dcterms:created xsi:type="dcterms:W3CDTF">2024-08-30T07:04:23Z</dcterms:created>
  <dcterms:modified xsi:type="dcterms:W3CDTF">2024-08-31T09:40:29Z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ducer">
    <vt:lpwstr>Skia/PDF m129 Google Docs Renderer</vt:lpwstr>
  </property>
</Properties>
</file>